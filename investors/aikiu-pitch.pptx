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C25A36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2926080" cy="2926080"/>
          </a:xfrm>
          <a:prstGeom prst="ellipse">
            <a:avLst/>
          </a:prstGeom>
          <a:solidFill>
            <a:srgbClr val="6B917A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VOZ PARA ADULTOS MAYORES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76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Sabés que está bien.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 a tu adulto mayor durante el día — y te avisa si algo no está como debería.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6863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Aires, Argentina  ·  hi@aikiu.com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Millones de adultos mayores pasan el día solos. Sus familias, preocupadas.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2240280"/>
            <a:ext cx="146304" cy="146304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148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4414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hijos trabajan, viven lejos, no pueden llamar a cada rato.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026664"/>
            <a:ext cx="146304" cy="146304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935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3227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¿Comió? ¿Tomó la medicación? ¿Se cayó? No hay forma simple de saberlo.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813048"/>
            <a:ext cx="146304" cy="146304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7216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que no encajan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401421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caros, apps complejas, geriátricos. Demasiada fricción.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57800" y="2148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8F3ED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23774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puedo llamarla cada hora. Pero tampoco puedo dejar de pensar en si está bien."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532120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 familiar de cualquier adulto mayor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IMPORTA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empezó con Marta.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Marta tiene 78 años y vive sola en Buenos Aires. Es alegre, curiosa y le gusta charlar. Su hijo le escribe a la mañana y a la noche — pero no puede estar ahí el resto del día.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Aikiu no nació de un análisis de mercado. Nació de un problema real, en una familia real. Hoy Marta lo usa todos los días.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49240" y="155448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0" y="1874520"/>
            <a:ext cx="777240" cy="777240"/>
          </a:xfrm>
          <a:prstGeom prst="ellipse">
            <a:avLst/>
          </a:prstGeom>
          <a:solidFill>
            <a:srgbClr val="C25A3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29400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años · Buenos Aires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2916936"/>
            <a:ext cx="100584" cy="100584"/>
          </a:xfrm>
          <a:prstGeom prst="ellipse">
            <a:avLst/>
          </a:prstGeom>
          <a:solidFill>
            <a:srgbClr val="6B917A"/>
          </a:solidFill>
          <a:ln w="12700">
            <a:solidFill>
              <a:srgbClr val="6B9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8437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sola, activa e independiente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15000" y="3337560"/>
            <a:ext cx="100584" cy="100584"/>
          </a:xfrm>
          <a:prstGeom prst="ellipse">
            <a:avLst/>
          </a:prstGeom>
          <a:solidFill>
            <a:srgbClr val="6B917A"/>
          </a:solidFill>
          <a:ln w="12700">
            <a:solidFill>
              <a:srgbClr val="6B9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264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celular que ya tenía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15000" y="3758184"/>
            <a:ext cx="100584" cy="100584"/>
          </a:xfrm>
          <a:prstGeom prst="ellipse">
            <a:avLst/>
          </a:prstGeom>
          <a:solidFill>
            <a:srgbClr val="6B917A"/>
          </a:solidFill>
          <a:ln w="12700">
            <a:solidFill>
              <a:srgbClr val="6B9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6850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con “Clara” todos los días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5000" y="4178808"/>
            <a:ext cx="100584" cy="100584"/>
          </a:xfrm>
          <a:prstGeom prst="ellipse">
            <a:avLst/>
          </a:prstGeom>
          <a:solidFill>
            <a:srgbClr val="6B917A"/>
          </a:solidFill>
          <a:ln w="12700">
            <a:solidFill>
              <a:srgbClr val="6B9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41056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familia recibe avisos si algo cambia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Aikiu acompaña, escucha y avisa.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de voz para el adulto mayor, que vive en el Telegram que ya tiene. Sin hardware especial, sin servidor propio, sin curva de aprendizaje.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60320"/>
            <a:ext cx="2499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560320"/>
            <a:ext cx="2499360" cy="64008"/>
          </a:xfrm>
          <a:prstGeom prst="rect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788920"/>
            <a:ext cx="1987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dispositivos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3456432"/>
            <a:ext cx="1987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sobre el celular que el adulto mayor ya usa. Nada que comprar ni instalar en la casa.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22320" y="2560320"/>
            <a:ext cx="2499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2560320"/>
            <a:ext cx="2499360" cy="64008"/>
          </a:xfrm>
          <a:prstGeom prst="rect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8352" y="2788920"/>
            <a:ext cx="1987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fricción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78352" y="3456432"/>
            <a:ext cx="1987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por nota de voz y recibe respuesta en voz. No hay app nueva que aprender.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1720" y="2560320"/>
            <a:ext cx="2499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1720" y="2560320"/>
            <a:ext cx="2499360" cy="64008"/>
          </a:xfrm>
          <a:prstGeom prst="rect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7752" y="2788920"/>
            <a:ext cx="1987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costo para la familia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97752" y="3456432"/>
            <a:ext cx="1987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Gratis. El modelo se sostiene con donaciones y sponsors, no con las familias.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pasos. Cero hardware.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499360" cy="2606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2057400"/>
            <a:ext cx="1987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DD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58952" y="2788920"/>
            <a:ext cx="1987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Configurás en minutos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8952" y="3291840"/>
            <a:ext cx="1987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Creás la cuenta, elegís el nombre del asistente y lo vinculás al celular del adulto mayor.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2320" y="1874520"/>
            <a:ext cx="2499360" cy="2606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8352" y="2057400"/>
            <a:ext cx="1987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DD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578352" y="2788920"/>
            <a:ext cx="1987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adulto mayor habla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78352" y="3291840"/>
            <a:ext cx="1987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una nota de voz desde Telegram y recibe respuesta en segundos: charla, compañía, recordatorios.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1720" y="1874520"/>
            <a:ext cx="2499360" cy="2606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7752" y="2057400"/>
            <a:ext cx="1987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DD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397752" y="2788920"/>
            <a:ext cx="1987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estás al tanto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97752" y="3291840"/>
            <a:ext cx="1987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 el día sin actividad, o si aparece tristeza, dolor o una caída, te llega un aviso al instante.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HACE DISTINTOS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chatbot.</a:t>
            </a:r>
            <a:endParaRPr lang="en-US" sz="29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Detecta cuando algo no está bien.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del adulto mayor se clasifica por nivel de angustia. Si algo supera lo normal, la familia recibe una alerta automática — con la hora, lo que dijo y cómo respondió el asistente.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2E2722"/>
          </a:solidFill>
          <a:ln w="12700">
            <a:solidFill>
              <a:srgbClr val="443A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6B91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3584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387705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Charla, saludos, preguntas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29260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2E2722"/>
          </a:solidFill>
          <a:ln w="12700">
            <a:solidFill>
              <a:srgbClr val="443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7208" y="3127248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07208" y="3584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07208" y="387705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Soledad, tristeza, no duerme bien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2E2722"/>
          </a:solidFill>
          <a:ln w="12700">
            <a:solidFill>
              <a:srgbClr val="443A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0328" y="3127248"/>
            <a:ext cx="384048" cy="384048"/>
          </a:xfrm>
          <a:prstGeom prst="ellipse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10328" y="3584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10328" y="387705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Llanto, dolor persistente, confusión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29260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2E2722"/>
          </a:solidFill>
          <a:ln w="12700">
            <a:solidFill>
              <a:srgbClr val="443A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3448" y="3127248"/>
            <a:ext cx="384048" cy="384048"/>
          </a:xfrm>
          <a:prstGeom prst="ellipse">
            <a:avLst/>
          </a:prstGeom>
          <a:solidFill>
            <a:srgbClr val="B2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3448" y="3584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13448" y="387705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Caída, dolor de pecho, pide ayuda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HOY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producto completo, ya funcionando.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090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84248"/>
            <a:ext cx="365760" cy="365760"/>
          </a:xfrm>
          <a:prstGeom prst="ellipse">
            <a:avLst/>
          </a:prstGeom>
          <a:solidFill>
            <a:srgbClr val="F8F3ED"/>
          </a:solidFill>
          <a:ln w="15875">
            <a:solidFill>
              <a:srgbClr val="C25A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2112264"/>
            <a:ext cx="109728" cy="109728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37944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Conversación por voz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2994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Transcribe, entiende y responde en voz con personalidad propia.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2020" y="1691640"/>
            <a:ext cx="39090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3188" y="1984248"/>
            <a:ext cx="365760" cy="365760"/>
          </a:xfrm>
          <a:prstGeom prst="ellipse">
            <a:avLst/>
          </a:prstGeom>
          <a:solidFill>
            <a:srgbClr val="F8F3ED"/>
          </a:solidFill>
          <a:ln w="15875">
            <a:solidFill>
              <a:srgbClr val="C25A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61204" y="2112264"/>
            <a:ext cx="109728" cy="109728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3540" y="1837944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Detección de angustia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3540" y="2148840"/>
            <a:ext cx="2994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cada mensaje y alerta a la familia si algo cambia.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39090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2999232"/>
            <a:ext cx="365760" cy="365760"/>
          </a:xfrm>
          <a:prstGeom prst="ellipse">
            <a:avLst/>
          </a:prstGeom>
          <a:solidFill>
            <a:srgbClr val="F8F3ED"/>
          </a:solidFill>
          <a:ln w="15875">
            <a:solidFill>
              <a:srgbClr val="C25A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" y="3127248"/>
            <a:ext cx="109728" cy="109728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852928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 de inactividad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63824"/>
            <a:ext cx="2994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pasan horas sin mensajes, la familia recibe un aviso.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2020" y="2706624"/>
            <a:ext cx="39090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3188" y="2999232"/>
            <a:ext cx="365760" cy="365760"/>
          </a:xfrm>
          <a:prstGeom prst="ellipse">
            <a:avLst/>
          </a:prstGeom>
          <a:solidFill>
            <a:srgbClr val="F8F3ED"/>
          </a:solidFill>
          <a:ln w="15875">
            <a:solidFill>
              <a:srgbClr val="C25A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1204" y="3127248"/>
            <a:ext cx="109728" cy="109728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3540" y="2852928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Recordatorios proactivos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3540" y="3163824"/>
            <a:ext cx="2994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matutino con clima y recordatorios de medicación.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721608"/>
            <a:ext cx="39090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4014216"/>
            <a:ext cx="365760" cy="365760"/>
          </a:xfrm>
          <a:prstGeom prst="ellipse">
            <a:avLst/>
          </a:prstGeom>
          <a:solidFill>
            <a:srgbClr val="F8F3ED"/>
          </a:solidFill>
          <a:ln w="15875">
            <a:solidFill>
              <a:srgbClr val="C25A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" y="4142232"/>
            <a:ext cx="109728" cy="109728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386791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Puente familiar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178808"/>
            <a:ext cx="2994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familia le manda mensajes; el asistente los transmite.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32020" y="3721608"/>
            <a:ext cx="39090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3188" y="4014216"/>
            <a:ext cx="365760" cy="365760"/>
          </a:xfrm>
          <a:prstGeom prst="ellipse">
            <a:avLst/>
          </a:prstGeom>
          <a:solidFill>
            <a:srgbClr val="F8F3ED"/>
          </a:solidFill>
          <a:ln w="15875">
            <a:solidFill>
              <a:srgbClr val="C25A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61204" y="4142232"/>
            <a:ext cx="109728" cy="109728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3540" y="386791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Consultas al mundo real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63540" y="4178808"/>
            <a:ext cx="2994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Clima, dólar y noticias, sin que el adulto mayor abra nada.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momento es ahora.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74650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población que envejece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8720" y="209397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de adultos mayores que viven solos crece de forma sostenida en Argentina y la región.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0662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smartphone ya está en sus manos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88720" y="305409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y WhatsApp son parte de la rutina de muchos adultos mayores. No hay que enseñar una herramienta nueva.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667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de voz se volvió buena y barata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8720" y="401421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y lenguaje natural de calidad a costo casi nulo. Hace dos años, esto no era viable.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 real, en uso diario.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maqueta. Aikiu está corriendo hoy, con una usuaria piloto real, y se prueba antes de cada cambio.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usuaria piloto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Marta, uso diario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2860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274320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 antes de cada commit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requerido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celular existente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22860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694944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para la familia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Gratis, por diseño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actual: validación. El objetivo inmediato es sumar familias piloto, no escalar.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modelo de eficiencia, no de extracción.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Aikiu corre sobre infraestructura que ya existe — el celular del adulto mayor — así que el costo de operación es mínimo por diseño. Lo poco que cuesta, lo cubren donaciones y sponsors. Las familias nunca pagan.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Donaciones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Sponsors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8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Sostienen el costo de operación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2743200"/>
            <a:ext cx="685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66160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B5826A"/>
          </a:solidFill>
          <a:ln w="12700">
            <a:solidFill>
              <a:srgbClr val="B582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Aikiu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8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operación casi nulo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2743200"/>
            <a:ext cx="685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29400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6B917A"/>
          </a:solidFill>
          <a:ln w="12700">
            <a:solidFill>
              <a:srgbClr val="6B9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1228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8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gratuito, siempre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9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aik</a:t>
            </a:r>
            <a:pPr indent="0" marL="0">
              <a:buNone/>
            </a:pPr>
            <a:r>
              <a:rPr lang="en-US" sz="1000" b="1" i="1" dirty="0">
                <a:solidFill>
                  <a:srgbClr val="C2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inversores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camino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6796"/>
            <a:ext cx="118872" cy="118872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diario a la familia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60020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noche, un resumen del día: temas, ánimo, recordatorios.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43800" y="17099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8F3ED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709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231136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27732"/>
            <a:ext cx="118872" cy="118872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3113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Privacidad por diseño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223113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local que ofusca datos médicos antes de salir del dispositivo.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23408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8F3ED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2340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862072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058668"/>
            <a:ext cx="118872" cy="118872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86207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 persistente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286207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 la conversación entre sesiones.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43800" y="29718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8F3ED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971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493008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689604"/>
            <a:ext cx="118872" cy="118872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49300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 aislamiento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51960" y="349300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caídas en la frecuencia de uso como señal temprana.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43800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8F3ED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3602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Planeado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123944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320540"/>
            <a:ext cx="118872" cy="118872"/>
          </a:xfrm>
          <a:prstGeom prst="ellipse">
            <a:avLst/>
          </a:prstGeom>
          <a:solidFill>
            <a:srgbClr val="C25A36"/>
          </a:solidFill>
          <a:ln w="12700">
            <a:solidFill>
              <a:srgbClr val="C25A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12394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Voz más natural y panel web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51960" y="412394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síntesis de voz e interfaz simple para la familia.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43800" y="423367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8F3ED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4233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Explorando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4206240" cy="4206240"/>
          </a:xfrm>
          <a:prstGeom prst="ellipse">
            <a:avLst/>
          </a:prstGeom>
          <a:solidFill>
            <a:srgbClr val="C25A36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9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Sumate a mantener Aikiu gratis.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buscamos vender un producto. Buscamos sostener una infraestructura de cuidado, abierta y gratuita para las familias.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2499360" cy="1600200"/>
          </a:xfrm>
          <a:prstGeom prst="roundRect">
            <a:avLst>
              <a:gd name="adj" fmla="val 4571"/>
            </a:avLst>
          </a:prstGeom>
          <a:solidFill>
            <a:srgbClr val="2E2722"/>
          </a:solidFill>
          <a:ln w="12700">
            <a:solidFill>
              <a:srgbClr val="443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23160"/>
            <a:ext cx="2499360" cy="64008"/>
          </a:xfrm>
          <a:prstGeom prst="rect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que financian la operación a cambio de visibilidad e impacto medible.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22320" y="2423160"/>
            <a:ext cx="2499360" cy="1600200"/>
          </a:xfrm>
          <a:prstGeom prst="roundRect">
            <a:avLst>
              <a:gd name="adj" fmla="val 4571"/>
            </a:avLst>
          </a:prstGeom>
          <a:solidFill>
            <a:srgbClr val="2E2722"/>
          </a:solidFill>
          <a:ln w="12700">
            <a:solidFill>
              <a:srgbClr val="443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320" y="2423160"/>
            <a:ext cx="2499360" cy="64008"/>
          </a:xfrm>
          <a:prstGeom prst="rect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0920" y="260604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Donantes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0920" y="30175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puntuales o recurrentes que mantienen el acceso gratuito.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1720" y="2423160"/>
            <a:ext cx="2499360" cy="1600200"/>
          </a:xfrm>
          <a:prstGeom prst="roundRect">
            <a:avLst>
              <a:gd name="adj" fmla="val 4571"/>
            </a:avLst>
          </a:prstGeom>
          <a:solidFill>
            <a:srgbClr val="2E2722"/>
          </a:solidFill>
          <a:ln w="12700">
            <a:solidFill>
              <a:srgbClr val="443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1720" y="2423160"/>
            <a:ext cx="2499360" cy="64008"/>
          </a:xfrm>
          <a:prstGeom prst="rect">
            <a:avLst/>
          </a:prstGeom>
          <a:solidFill>
            <a:srgbClr val="C25A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0320" y="260604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Familias piloto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0320" y="30175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que prueben Aikiu y ayuden a definir el producto.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Hablemos.   </a:t>
            </a:r>
            <a:pPr indent="0" marL="0">
              <a:buNone/>
            </a:pPr>
            <a:r>
              <a:rPr lang="en-US" sz="1400" b="1" dirty="0">
                <a:solidFill>
                  <a:srgbClr val="C2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hi@aikiu.com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Aikiu — Pitch para inversores</dc:title>
  <dc:subject>PptxGenJS Presentation</dc:subject>
  <dc:creator>Aikiu</dc:creator>
  <cp:lastModifiedBy>Aikiu</cp:lastModifiedBy>
  <cp:revision>1</cp:revision>
  <dcterms:created xsi:type="dcterms:W3CDTF">2026-05-15T17:52:39Z</dcterms:created>
  <dcterms:modified xsi:type="dcterms:W3CDTF">2026-05-15T17:52:39Z</dcterms:modified>
</cp:coreProperties>
</file>